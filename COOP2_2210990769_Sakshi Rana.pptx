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5" r:id="rId10"/>
    <p:sldId id="272" r:id="rId11"/>
    <p:sldId id="273" r:id="rId12"/>
    <p:sldId id="276" r:id="rId13"/>
    <p:sldId id="274" r:id="rId14"/>
    <p:sldId id="277"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1546"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400" b="1" dirty="0">
                <a:latin typeface="Times New Roman" panose="02020603050405020304" pitchFamily="18" charset="0"/>
                <a:ea typeface="Calibri" panose="020F0502020204030204" pitchFamily="34" charset="0"/>
                <a:cs typeface="Times New Roman" panose="02020603050405020304" pitchFamily="18" charset="0"/>
              </a:rPr>
              <a:t>Emotion AI: Computational Techniques for Automatic</a:t>
            </a:r>
          </a:p>
          <a:p>
            <a:pPr algn="ctr">
              <a:lnSpc>
                <a:spcPct val="100000"/>
              </a:lnSpc>
              <a:spcBef>
                <a:spcPts val="400"/>
              </a:spcBef>
            </a:pPr>
            <a:r>
              <a:rPr lang="en-US" sz="3400" b="1" dirty="0">
                <a:latin typeface="Times New Roman" panose="02020603050405020304" pitchFamily="18" charset="0"/>
                <a:ea typeface="Calibri" panose="020F0502020204030204" pitchFamily="34" charset="0"/>
                <a:cs typeface="Times New Roman" panose="02020603050405020304" pitchFamily="18" charset="0"/>
              </a:rPr>
              <a:t>Emotion Recognition</a:t>
            </a:r>
            <a:endParaRPr lang="en-US" sz="34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Sakshi Rana</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2210990769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Gurpreet Singh</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1329105"/>
            <a:ext cx="8838720" cy="4838571"/>
          </a:xfrm>
          <a:prstGeom prst="rect">
            <a:avLst/>
          </a:prstGeom>
          <a:noFill/>
          <a:ln w="9360">
            <a:noFill/>
          </a:ln>
        </p:spPr>
        <p:txBody>
          <a:bodyPr>
            <a:noAutofit/>
          </a:bodyPr>
          <a:lstStyle/>
          <a:p>
            <a:pPr algn="just">
              <a:lnSpc>
                <a:spcPct val="150000"/>
              </a:lnSpc>
              <a:spcBef>
                <a:spcPts val="400"/>
              </a:spcBef>
            </a:pPr>
            <a:r>
              <a:rPr lang="en-US" sz="2000" dirty="0">
                <a:latin typeface="Times New Roman" panose="02020603050405020304" pitchFamily="18" charset="0"/>
                <a:cs typeface="Times New Roman" panose="02020603050405020304" pitchFamily="18" charset="0"/>
              </a:rPr>
              <a:t>Emotion recognition is a critical component of modern intelligent systems that enables machines to understand and interpret human emotional states. It plays a significant role in enhancing human–computer interaction by allowing systems to respond in a more natural and context-aware manner. With the rapid advancement of artificial intelligence and deep learning, emotion-aware systems are increasingly being used in applications such as healthcare monitoring, virtual assistants, and smart education platforms. However, accurately identifying human emotions remains a complex challenge due to variability in expressions and contextual dependencies.</a:t>
            </a:r>
            <a:endParaRPr lang="en-US" sz="20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3042-B9CE-54A7-1F57-CBB2FAFDB99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3B3FF4D-6C67-403E-5AA4-6F26B0B138D0}"/>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1751B3B6-A4F6-FB28-E780-CA746D75982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88A15A33-B4D4-2DAE-D594-1E1765E8143C}"/>
              </a:ext>
            </a:extLst>
          </p:cNvPr>
          <p:cNvSpPr txBox="1"/>
          <p:nvPr/>
        </p:nvSpPr>
        <p:spPr>
          <a:xfrm>
            <a:off x="152640" y="1329105"/>
            <a:ext cx="8838720" cy="4838571"/>
          </a:xfrm>
          <a:prstGeom prst="rect">
            <a:avLst/>
          </a:prstGeom>
          <a:noFill/>
          <a:ln w="9360">
            <a:noFill/>
          </a:ln>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Most existing emotion recognition approaches are based on unimodal systems, where only one type of data such as facial expressions, speech signals, or textual input is considered. These approaches suffer from several limitations: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Sensitivity to noise and environmental variations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contextual understanding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Inconsistent performance across different users </a:t>
            </a:r>
          </a:p>
          <a:p>
            <a:pPr algn="just">
              <a:lnSpc>
                <a:spcPct val="150000"/>
              </a:lnSpc>
            </a:pPr>
            <a:r>
              <a:rPr lang="en-US" sz="2000" dirty="0">
                <a:latin typeface="Times New Roman" panose="02020603050405020304" pitchFamily="18" charset="0"/>
                <a:cs typeface="Times New Roman" panose="02020603050405020304" pitchFamily="18" charset="0"/>
              </a:rPr>
              <a:t>For example, a person may smile while feeling stressed, or speech tone may not always reflect actual emotions. As a result, unimodal systems fail to capture the complete emotional state, leading to reduced accuracy in real-world applications.</a:t>
            </a: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42970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65B10-B902-F5FB-07A8-F5CEE0FCCE0D}"/>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78A8077-603A-0DF4-BB52-5AE70C90523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Proposed Approach</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E5B7A37-813F-472C-5FAF-DFBFF356E73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D735B2A8-7429-0C27-8343-929BCC61E55D}"/>
              </a:ext>
            </a:extLst>
          </p:cNvPr>
          <p:cNvSpPr txBox="1"/>
          <p:nvPr/>
        </p:nvSpPr>
        <p:spPr>
          <a:xfrm>
            <a:off x="152640" y="1173515"/>
            <a:ext cx="8838720" cy="4838571"/>
          </a:xfrm>
          <a:prstGeom prst="rect">
            <a:avLst/>
          </a:prstGeom>
          <a:noFill/>
          <a:ln w="9360">
            <a:noFill/>
          </a:ln>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To overcome the limitations of unimodal systems, a multimodal emotion recognition framework is proposed that integrates facial, speech, and textual data. The key idea is that different modalities capture different aspects of human emotion, and combining them provides a more comprehensive understanding.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Facial expressions capture visual emotional cues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Speech signals provide tonal and acoustic information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Textual data reflects semantic and contextual meaning </a:t>
            </a:r>
          </a:p>
          <a:p>
            <a:pPr algn="just">
              <a:lnSpc>
                <a:spcPct val="150000"/>
              </a:lnSpc>
            </a:pPr>
            <a:r>
              <a:rPr lang="en-US" sz="2000" dirty="0">
                <a:latin typeface="Times New Roman" panose="02020603050405020304" pitchFamily="18" charset="0"/>
                <a:cs typeface="Times New Roman" panose="02020603050405020304" pitchFamily="18" charset="0"/>
              </a:rPr>
              <a:t>By leveraging deep learning techniques, the system is capable of extracting meaningful features from each modality and combining them to improve overall performance and robustness.</a:t>
            </a: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606057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91A5-CBF5-0249-D16B-4D5A0A92ED2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C6F69F8-B5E3-B8D0-0AFD-2315A986D310}"/>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System Architecture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4489021-5389-A22E-5A73-F82AAB9ED2B3}"/>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D032BA6B-0242-3A9B-8A04-92AB72F58912}"/>
              </a:ext>
            </a:extLst>
          </p:cNvPr>
          <p:cNvSpPr txBox="1"/>
          <p:nvPr/>
        </p:nvSpPr>
        <p:spPr>
          <a:xfrm>
            <a:off x="152640" y="1329105"/>
            <a:ext cx="8838720" cy="4838571"/>
          </a:xfrm>
          <a:prstGeom prst="rect">
            <a:avLst/>
          </a:prstGeom>
          <a:noFill/>
          <a:ln w="9360">
            <a:noFill/>
          </a:ln>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proposed system follows a structured pipeline consisting of multiple stages. Initially, data from facial images, speech signals, and textual inputs is collected and preprocessed to remove noise and standardize the input format. Each modality is then processed independently using specialized deep learning models.</a:t>
            </a:r>
          </a:p>
          <a:p>
            <a:pPr algn="just">
              <a:lnSpc>
                <a:spcPct val="150000"/>
              </a:lnSpc>
            </a:pPr>
            <a:r>
              <a:rPr lang="en-US" sz="2000" dirty="0">
                <a:latin typeface="Times New Roman" panose="02020603050405020304" pitchFamily="18" charset="0"/>
                <a:cs typeface="Times New Roman" panose="02020603050405020304" pitchFamily="18" charset="0"/>
              </a:rPr>
              <a:t>The outputs generated by these models are passed to an adaptive fusion layer, where they are combined to produce the final emotion prediction. This architecture ensures that the system does not rely on a single modality and can perform effectively even when one of the inputs is unreliable.</a:t>
            </a:r>
          </a:p>
          <a:p>
            <a:pPr algn="just">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385476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60E7B-0DC7-C503-BCC6-76BA3621A3D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D545152-EE87-F613-43C0-BBB3A8DC580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System Architecture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94172C6-1081-38A4-C2FA-DF26B5EDF6C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7E3DA1C6-A5A5-B88D-523C-71241912A1D9}"/>
              </a:ext>
            </a:extLst>
          </p:cNvPr>
          <p:cNvSpPr txBox="1"/>
          <p:nvPr/>
        </p:nvSpPr>
        <p:spPr>
          <a:xfrm>
            <a:off x="152640" y="1329105"/>
            <a:ext cx="8838720" cy="4838571"/>
          </a:xfrm>
          <a:prstGeom prst="rect">
            <a:avLst/>
          </a:prstGeom>
          <a:noFill/>
          <a:ln w="9360">
            <a:noFill/>
          </a:ln>
        </p:spPr>
        <p:txBody>
          <a:bodyPr>
            <a:noAutofit/>
          </a:bodyPr>
          <a:lstStyle/>
          <a:p>
            <a:pPr algn="just">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3" name="Picture 2">
            <a:extLst>
              <a:ext uri="{FF2B5EF4-FFF2-40B4-BE49-F238E27FC236}">
                <a16:creationId xmlns:a16="http://schemas.microsoft.com/office/drawing/2014/main" id="{37682915-D3A2-AAF6-8809-91945014417A}"/>
              </a:ext>
            </a:extLst>
          </p:cNvPr>
          <p:cNvPicPr>
            <a:picLocks noChangeAspect="1"/>
          </p:cNvPicPr>
          <p:nvPr/>
        </p:nvPicPr>
        <p:blipFill>
          <a:blip r:embed="rId2">
            <a:extLst>
              <a:ext uri="{28A0092B-C50C-407E-A947-70E740481C1C}">
                <a14:useLocalDpi xmlns:a14="http://schemas.microsoft.com/office/drawing/2010/main" val="0"/>
              </a:ext>
            </a:extLst>
          </a:blip>
          <a:srcRect l="1471" t="6381" r="936" b="8609"/>
          <a:stretch>
            <a:fillRect/>
          </a:stretch>
        </p:blipFill>
        <p:spPr>
          <a:xfrm>
            <a:off x="1063487" y="1329105"/>
            <a:ext cx="7255566" cy="4273826"/>
          </a:xfrm>
          <a:prstGeom prst="rect">
            <a:avLst/>
          </a:prstGeom>
        </p:spPr>
      </p:pic>
    </p:spTree>
    <p:extLst>
      <p:ext uri="{BB962C8B-B14F-4D97-AF65-F5344CB8AC3E}">
        <p14:creationId xmlns:p14="http://schemas.microsoft.com/office/powerpoint/2010/main" val="3696905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C61E-E022-75DD-C834-2A5F29EB686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CBF007C-640F-6543-75E7-C16F4FD0AEAD}"/>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Methodology</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3E7FABE0-33D2-12AD-0BD6-2E0D53C9E59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mc:AlternateContent xmlns:mc="http://schemas.openxmlformats.org/markup-compatibility/2006">
        <mc:Choice xmlns:a14="http://schemas.microsoft.com/office/drawing/2010/main" Requires="a14">
          <p:sp>
            <p:nvSpPr>
              <p:cNvPr id="5" name="TextShape 2">
                <a:extLst>
                  <a:ext uri="{FF2B5EF4-FFF2-40B4-BE49-F238E27FC236}">
                    <a16:creationId xmlns:a16="http://schemas.microsoft.com/office/drawing/2014/main" id="{9FD2B8C5-1A7C-18DB-BCEC-0E8E75889E8F}"/>
                  </a:ext>
                </a:extLst>
              </p:cNvPr>
              <p:cNvSpPr txBox="1"/>
              <p:nvPr/>
            </p:nvSpPr>
            <p:spPr>
              <a:xfrm>
                <a:off x="152640" y="1009714"/>
                <a:ext cx="8838720" cy="4838571"/>
              </a:xfrm>
              <a:prstGeom prst="rect">
                <a:avLst/>
              </a:prstGeom>
              <a:noFill/>
              <a:ln w="9360">
                <a:noFill/>
              </a:ln>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methodology involves the use of deep learning models tailored to each type of data. A Convolutional Neural Network (CNN) is used for extracting spatial features from facial images, while a Long Short-Term Memory (LSTM) network captures temporal dependencies in speech signals. For textual data, Transformer-based models are used to analyse contextual and semantic relationships.</a:t>
                </a:r>
              </a:p>
              <a:p>
                <a:pPr algn="just">
                  <a:lnSpc>
                    <a:spcPct val="150000"/>
                  </a:lnSpc>
                </a:pPr>
                <a:r>
                  <a:rPr lang="en-IN" sz="2000" dirty="0">
                    <a:latin typeface="Times New Roman" panose="02020603050405020304" pitchFamily="18" charset="0"/>
                    <a:cs typeface="Times New Roman" panose="02020603050405020304" pitchFamily="18" charset="0"/>
                  </a:rPr>
                  <a:t>A key contribution of this work is the implementation of a confidence-based adaptive fusion mechanism. Instead of assigning equal importance to all modalities, the system dynamically adjusts weights based on the reliability of each input.</a:t>
                </a:r>
              </a:p>
              <a:p>
                <a:pPr algn="just">
                  <a:lnSpc>
                    <a:spcPct val="150000"/>
                  </a:lnSpc>
                </a:pPr>
                <a14:m>
                  <m:oMathPara xmlns:m="http://schemas.openxmlformats.org/officeDocument/2006/math">
                    <m:oMathParaPr>
                      <m:jc m:val="centerGroup"/>
                    </m:oMathParaPr>
                    <m:oMath xmlns:m="http://schemas.openxmlformats.org/officeDocument/2006/math">
                      <m:r>
                        <a:rPr lang="en-IN" i="1"/>
                        <m:t>𝐸</m:t>
                      </m:r>
                      <m:r>
                        <a:rPr lang="en-IN"/>
                        <m:t>=</m:t>
                      </m:r>
                      <m:sSub>
                        <m:sSubPr>
                          <m:ctrlPr>
                            <a:rPr lang="ar-AE" i="1"/>
                          </m:ctrlPr>
                        </m:sSubPr>
                        <m:e>
                          <m:r>
                            <a:rPr lang="ar-AE" i="1"/>
                            <m:t>𝑤</m:t>
                          </m:r>
                        </m:e>
                        <m:sub>
                          <m:r>
                            <a:rPr lang="ar-AE"/>
                            <m:t>1</m:t>
                          </m:r>
                        </m:sub>
                      </m:sSub>
                      <m:sSub>
                        <m:sSubPr>
                          <m:ctrlPr>
                            <a:rPr lang="ar-AE" i="1"/>
                          </m:ctrlPr>
                        </m:sSubPr>
                        <m:e>
                          <m:r>
                            <a:rPr lang="ar-AE" i="1"/>
                            <m:t>𝐹</m:t>
                          </m:r>
                        </m:e>
                        <m:sub>
                          <m:r>
                            <a:rPr lang="ar-AE" i="1"/>
                            <m:t>𝑓𝑎𝑐𝑒</m:t>
                          </m:r>
                        </m:sub>
                      </m:sSub>
                      <m:r>
                        <a:rPr lang="ar-AE"/>
                        <m:t>+</m:t>
                      </m:r>
                      <m:sSub>
                        <m:sSubPr>
                          <m:ctrlPr>
                            <a:rPr lang="ar-AE" i="1"/>
                          </m:ctrlPr>
                        </m:sSubPr>
                        <m:e>
                          <m:r>
                            <a:rPr lang="ar-AE" i="1"/>
                            <m:t>𝑤</m:t>
                          </m:r>
                        </m:e>
                        <m:sub>
                          <m:r>
                            <a:rPr lang="ar-AE"/>
                            <m:t>2</m:t>
                          </m:r>
                        </m:sub>
                      </m:sSub>
                      <m:sSub>
                        <m:sSubPr>
                          <m:ctrlPr>
                            <a:rPr lang="ar-AE" i="1"/>
                          </m:ctrlPr>
                        </m:sSubPr>
                        <m:e>
                          <m:r>
                            <a:rPr lang="ar-AE" i="1"/>
                            <m:t>𝐹</m:t>
                          </m:r>
                        </m:e>
                        <m:sub>
                          <m:r>
                            <a:rPr lang="ar-AE" i="1"/>
                            <m:t>𝑠𝑝𝑒𝑒𝑐</m:t>
                          </m:r>
                          <m:r>
                            <a:rPr lang="ar-AE" i="1"/>
                            <m:t>h</m:t>
                          </m:r>
                        </m:sub>
                      </m:sSub>
                      <m:r>
                        <a:rPr lang="ar-AE"/>
                        <m:t>+</m:t>
                      </m:r>
                      <m:sSub>
                        <m:sSubPr>
                          <m:ctrlPr>
                            <a:rPr lang="ar-AE" i="1"/>
                          </m:ctrlPr>
                        </m:sSubPr>
                        <m:e>
                          <m:r>
                            <a:rPr lang="ar-AE" i="1"/>
                            <m:t>𝑤</m:t>
                          </m:r>
                        </m:e>
                        <m:sub>
                          <m:r>
                            <a:rPr lang="ar-AE"/>
                            <m:t>3</m:t>
                          </m:r>
                        </m:sub>
                      </m:sSub>
                      <m:sSub>
                        <m:sSubPr>
                          <m:ctrlPr>
                            <a:rPr lang="ar-AE" i="1"/>
                          </m:ctrlPr>
                        </m:sSubPr>
                        <m:e>
                          <m:r>
                            <a:rPr lang="ar-AE" i="1"/>
                            <m:t>𝐹</m:t>
                          </m:r>
                        </m:e>
                        <m:sub>
                          <m:r>
                            <a:rPr lang="ar-AE" i="1"/>
                            <m:t>𝑡𝑒𝑥𝑡</m:t>
                          </m:r>
                        </m:sub>
                      </m:sSub>
                    </m:oMath>
                  </m:oMathPara>
                </a14:m>
                <a:endParaRPr lang="ar-AE"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This approach significantly improves robustness, especially in noisy or uncertain conditions.</a:t>
                </a:r>
              </a:p>
            </p:txBody>
          </p:sp>
        </mc:Choice>
        <mc:Fallback>
          <p:sp>
            <p:nvSpPr>
              <p:cNvPr id="5" name="TextShape 2">
                <a:extLst>
                  <a:ext uri="{FF2B5EF4-FFF2-40B4-BE49-F238E27FC236}">
                    <a16:creationId xmlns:a16="http://schemas.microsoft.com/office/drawing/2014/main" id="{9FD2B8C5-1A7C-18DB-BCEC-0E8E75889E8F}"/>
                  </a:ext>
                </a:extLst>
              </p:cNvPr>
              <p:cNvSpPr txBox="1">
                <a:spLocks noRot="1" noChangeAspect="1" noMove="1" noResize="1" noEditPoints="1" noAdjustHandles="1" noChangeArrowheads="1" noChangeShapeType="1" noTextEdit="1"/>
              </p:cNvSpPr>
              <p:nvPr/>
            </p:nvSpPr>
            <p:spPr>
              <a:xfrm>
                <a:off x="152640" y="1009714"/>
                <a:ext cx="8838720" cy="4838571"/>
              </a:xfrm>
              <a:prstGeom prst="rect">
                <a:avLst/>
              </a:prstGeom>
              <a:blipFill>
                <a:blip r:embed="rId2"/>
                <a:stretch>
                  <a:fillRect l="-690" r="-759" b="-6810"/>
                </a:stretch>
              </a:blipFill>
              <a:ln w="9360">
                <a:noFill/>
              </a:ln>
            </p:spPr>
            <p:txBody>
              <a:bodyPr/>
              <a:lstStyle/>
              <a:p>
                <a:r>
                  <a:rPr lang="en-IN">
                    <a:noFill/>
                  </a:rPr>
                  <a:t> </a:t>
                </a:r>
              </a:p>
            </p:txBody>
          </p:sp>
        </mc:Fallback>
      </mc:AlternateContent>
    </p:spTree>
    <p:extLst>
      <p:ext uri="{BB962C8B-B14F-4D97-AF65-F5344CB8AC3E}">
        <p14:creationId xmlns:p14="http://schemas.microsoft.com/office/powerpoint/2010/main" val="499676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2B7B-F4E8-BCAB-46DC-EAE8138392B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3ADD2CDC-3C7B-D597-F4D4-04CD146B05A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Experimental Results and Analysis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DEB144A-0234-60C0-2A08-AB22FE5E67C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A430CAC2-721D-6003-6978-466AF8FB7938}"/>
              </a:ext>
            </a:extLst>
          </p:cNvPr>
          <p:cNvSpPr txBox="1"/>
          <p:nvPr/>
        </p:nvSpPr>
        <p:spPr>
          <a:xfrm>
            <a:off x="152640" y="921600"/>
            <a:ext cx="8838720" cy="4838571"/>
          </a:xfrm>
          <a:prstGeom prst="rect">
            <a:avLst/>
          </a:prstGeom>
          <a:noFill/>
          <a:ln w="9360">
            <a:noFill/>
          </a:ln>
        </p:spPr>
        <p:txBody>
          <a:bodyPr>
            <a:noAutofit/>
          </a:bodyPr>
          <a:lstStyle/>
          <a:p>
            <a:pPr>
              <a:lnSpc>
                <a:spcPct val="150000"/>
              </a:lnSpc>
            </a:pPr>
            <a:r>
              <a:rPr lang="en-US" sz="2000" dirty="0">
                <a:latin typeface="Times New Roman" panose="02020603050405020304" pitchFamily="18" charset="0"/>
                <a:cs typeface="Times New Roman" panose="02020603050405020304" pitchFamily="18" charset="0"/>
              </a:rPr>
              <a:t>The performance of the proposed system was evaluated using benchmark datasets under different conditions. The results indicate that unimodal models achieve moderate accuracy, while the multimodal approach significantly improves performance.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Facial model accuracy: 78%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Speech model accuracy: 75%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 model accuracy: 80%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Multimodal system accuracy: &gt;90% </a:t>
            </a:r>
          </a:p>
          <a:p>
            <a:pPr>
              <a:lnSpc>
                <a:spcPct val="150000"/>
              </a:lnSpc>
            </a:pPr>
            <a:r>
              <a:rPr lang="en-US" sz="2000" dirty="0">
                <a:latin typeface="Times New Roman" panose="02020603050405020304" pitchFamily="18" charset="0"/>
                <a:cs typeface="Times New Roman" panose="02020603050405020304" pitchFamily="18" charset="0"/>
              </a:rPr>
              <a:t>The overall improvement of approximately 15–20% demonstrates the effectiveness of combining multiple modalities. The system also shows better performance in noisy environments, highlighting the importance of adaptive fusion in handling real-world scenarios.</a:t>
            </a: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470524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9995-C03B-84BF-DD44-BB10BEEDAC4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3C3B64D-38E3-A53E-C518-370B0288201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latin typeface="Times New Roman" panose="02020603050405020304" pitchFamily="18" charset="0"/>
                <a:cs typeface="Times New Roman" panose="02020603050405020304" pitchFamily="18" charset="0"/>
              </a:rPr>
              <a:t>Experimental Results and Analysis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E33EA595-DF24-E32A-7764-F88819B217D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2974865A-64C3-EDBC-DFBC-12DCAD9B4625}"/>
              </a:ext>
            </a:extLst>
          </p:cNvPr>
          <p:cNvSpPr txBox="1"/>
          <p:nvPr/>
        </p:nvSpPr>
        <p:spPr>
          <a:xfrm>
            <a:off x="152640" y="921600"/>
            <a:ext cx="8838720" cy="4838571"/>
          </a:xfrm>
          <a:prstGeom prst="rect">
            <a:avLst/>
          </a:prstGeom>
          <a:noFill/>
          <a:ln w="9360">
            <a:noFill/>
          </a:ln>
        </p:spPr>
        <p:txBody>
          <a:bodyPr>
            <a:noAutofit/>
          </a:bodyPr>
          <a:lstStyle/>
          <a:p>
            <a:pPr marL="342900" indent="-342900" algn="just">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Multimodal approach significantly outperforms unimodal systems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0BF53E26-0A6C-4213-D10E-4E49F8C05AB4}"/>
              </a:ext>
            </a:extLst>
          </p:cNvPr>
          <p:cNvPicPr>
            <a:picLocks noChangeAspect="1"/>
          </p:cNvPicPr>
          <p:nvPr/>
        </p:nvPicPr>
        <p:blipFill>
          <a:blip r:embed="rId2">
            <a:extLst>
              <a:ext uri="{28A0092B-C50C-407E-A947-70E740481C1C}">
                <a14:useLocalDpi xmlns:a14="http://schemas.microsoft.com/office/drawing/2010/main" val="0"/>
              </a:ext>
            </a:extLst>
          </a:blip>
          <a:srcRect t="11365"/>
          <a:stretch>
            <a:fillRect/>
          </a:stretch>
        </p:blipFill>
        <p:spPr bwMode="auto">
          <a:xfrm>
            <a:off x="1608684" y="2017644"/>
            <a:ext cx="5299011" cy="3468756"/>
          </a:xfrm>
          <a:prstGeom prst="rect">
            <a:avLst/>
          </a:prstGeom>
          <a:noFill/>
          <a:ln>
            <a:noFill/>
          </a:ln>
        </p:spPr>
      </p:pic>
    </p:spTree>
    <p:extLst>
      <p:ext uri="{BB962C8B-B14F-4D97-AF65-F5344CB8AC3E}">
        <p14:creationId xmlns:p14="http://schemas.microsoft.com/office/powerpoint/2010/main" val="3201113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D7B5-2B9B-A303-A94A-2EE3C9D5915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AF85BD9-DCE0-6792-3D89-A38043B8E0A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Conclusion</a:t>
            </a:r>
          </a:p>
        </p:txBody>
      </p:sp>
      <p:sp>
        <p:nvSpPr>
          <p:cNvPr id="110" name="TextShape 3">
            <a:extLst>
              <a:ext uri="{FF2B5EF4-FFF2-40B4-BE49-F238E27FC236}">
                <a16:creationId xmlns:a16="http://schemas.microsoft.com/office/drawing/2014/main" id="{393BA635-9B6F-DED5-0E6F-664573F96AA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E642C1D7-9FB3-1D6A-CC5F-BE6A742972A5}"/>
              </a:ext>
            </a:extLst>
          </p:cNvPr>
          <p:cNvSpPr txBox="1"/>
          <p:nvPr/>
        </p:nvSpPr>
        <p:spPr>
          <a:xfrm>
            <a:off x="152640" y="1329105"/>
            <a:ext cx="8838720" cy="4838571"/>
          </a:xfrm>
          <a:prstGeom prst="rect">
            <a:avLst/>
          </a:prstGeom>
          <a:noFill/>
          <a:ln w="9360">
            <a:noFill/>
          </a:ln>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proposed multimodal emotion recognition framework effectively addresses the limitations of traditional unimodal systems by integrating multiple sources of data. The use of deep learning models enables efficient feature extraction, while the adaptive fusion mechanism enhances accuracy and reliability.</a:t>
            </a:r>
          </a:p>
          <a:p>
            <a:pPr algn="just">
              <a:lnSpc>
                <a:spcPct val="150000"/>
              </a:lnSpc>
            </a:pPr>
            <a:r>
              <a:rPr lang="en-US" sz="2000" dirty="0">
                <a:latin typeface="Times New Roman" panose="02020603050405020304" pitchFamily="18" charset="0"/>
                <a:cs typeface="Times New Roman" panose="02020603050405020304" pitchFamily="18" charset="0"/>
              </a:rPr>
              <a:t>The system demonstrates significant improvement in performance and is suitable for real-world applications such as healthcare monitoring, intelligent tutoring systems, and virtual assistants. Future work can focus on optimizing computational efficiency, expanding datasets, and addressing ethical and privacy concerns associated with emotion-aware systems.</a:t>
            </a: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339273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145C7-325F-E146-D96B-07671175AA0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A252FC0-7D94-AA31-1D21-44F4FCB4EA98}"/>
              </a:ext>
            </a:extLst>
          </p:cNvPr>
          <p:cNvSpPr txBox="1"/>
          <p:nvPr/>
        </p:nvSpPr>
        <p:spPr>
          <a:xfrm>
            <a:off x="407505"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Future Scope</a:t>
            </a:r>
          </a:p>
        </p:txBody>
      </p:sp>
      <p:sp>
        <p:nvSpPr>
          <p:cNvPr id="110" name="TextShape 3">
            <a:extLst>
              <a:ext uri="{FF2B5EF4-FFF2-40B4-BE49-F238E27FC236}">
                <a16:creationId xmlns:a16="http://schemas.microsoft.com/office/drawing/2014/main" id="{762D4A63-3118-FD4F-EA67-09FEE8EF088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a:extLst>
              <a:ext uri="{FF2B5EF4-FFF2-40B4-BE49-F238E27FC236}">
                <a16:creationId xmlns:a16="http://schemas.microsoft.com/office/drawing/2014/main" id="{FC1C0EBB-A300-5889-96A9-B112B7BE88F5}"/>
              </a:ext>
            </a:extLst>
          </p:cNvPr>
          <p:cNvSpPr txBox="1"/>
          <p:nvPr/>
        </p:nvSpPr>
        <p:spPr>
          <a:xfrm>
            <a:off x="79514" y="1009714"/>
            <a:ext cx="8838720" cy="5346806"/>
          </a:xfrm>
          <a:prstGeom prst="rect">
            <a:avLst/>
          </a:prstGeom>
          <a:noFill/>
          <a:ln w="9360">
            <a:noFill/>
          </a:ln>
        </p:spPr>
        <p:txBody>
          <a:bodyPr>
            <a:no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multimodal emotion recognition system can be further enhanced by incorporating additional modalities such as physiological signals (e.g., EEG, heart rate) to improve accuracy and reliability. Future research can focus on real-time emotion detection systems for applications in healthcare monitoring and human–robot interaction.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Moreover, the use of advanced deep learning architectures and larger, more diverse datasets can help improve model generalization. Addressing privacy and ethical concerns related to emotion data collection will also be an important area of future work.</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Additionally, optimizing the computational efficiency of the system can make it more suitable for deployment on mobile and edge devices.</a:t>
            </a: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07809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34762</TotalTime>
  <Words>914</Words>
  <Application>Microsoft Office PowerPoint</Application>
  <PresentationFormat>On-screen Show (4:3)</PresentationFormat>
  <Paragraphs>127</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Sakshi Rana</dc:creator>
  <cp:lastModifiedBy>SAKSHI RANA</cp:lastModifiedBy>
  <cp:revision>2300</cp:revision>
  <dcterms:created xsi:type="dcterms:W3CDTF">2010-04-09T07:36:15Z</dcterms:created>
  <dcterms:modified xsi:type="dcterms:W3CDTF">2026-05-18T06:04:35Z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